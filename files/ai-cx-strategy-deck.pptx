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b46fc39-71e4-317e-e93c-35702fd2d1b7}">
          <p14:sldIdLst>
            <p14:sldId id="257"/>
          </p14:sldIdLst>
        </p14:section>
        <p14:section name="Default-1" id="{f03a7cf1-9b23-ca4b-9ee1-584f4c0d3503}">
          <p14:sldIdLst>
            <p14:sldId id="256"/>
          </p14:sldIdLst>
        </p14:section>
        <p14:section name="Strategy" id="{c8e03ca1-f41c-37a0-1112-a80fd4c4f46e}">
          <p14:sldIdLst>
            <p14:sldId id="258"/>
            <p14:sldId id="259"/>
            <p14:sldId id="260"/>
          </p14:sldIdLst>
        </p14:section>
        <p14:section name="Impact" id="{d29d35d6-4b5f-0a13-3839-c206b39d54cb}">
          <p14:sldIdLst>
            <p14:sldId id="261"/>
          </p14:sldIdLst>
        </p14:section>
        <p14:section name="Roadmap &amp; Governance" id="{8e9259da-285e-900d-0033-49436f2b4f78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8FA7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Avg. Handle Time (min)</c:v>
                  </c:pt>
                  <c:pt idx="1">
                    <c:v>Cost per Contact ($)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18.4</c:v>
                </c:pt>
                <c:pt idx="1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21C7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Avg. Handle Time (min)</c:v>
                  </c:pt>
                  <c:pt idx="1">
                    <c:v>Cost per Contact ($)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14.3</c:v>
                </c:pt>
                <c:pt idx="1">
                  <c:v>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A25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3C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3C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C7A8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8FA7B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A2540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A2540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A2540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Chatbot self-service</c:v>
                </c:pt>
                <c:pt idx="1">
                  <c:v>Agent-assisted</c:v>
                </c:pt>
                <c:pt idx="2">
                  <c:v>Escalated / complex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</c:v>
                </c:pt>
                <c:pt idx="1">
                  <c:v>43</c:v>
                </c:pt>
                <c:pt idx="2">
                  <c:v>22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CADCF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Automated</c:v>
                </c:pt>
              </c:strCache>
            </c:strRef>
          </c:tx>
          <c:spPr>
            <a:solidFill>
              <a:srgbClr val="21C7A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2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Case triage &amp; routing</c:v>
                  </c:pt>
                  <c:pt idx="1">
                    <c:v>Data entry &amp; reconciliation</c:v>
                  </c:pt>
                  <c:pt idx="2">
                    <c:v>Status updates &amp; notifications</c:v>
                  </c:pt>
                  <c:pt idx="3">
                    <c:v>Billing adjustments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47</c:v>
                </c:pt>
                <c:pt idx="2">
                  <c:v>71</c:v>
                </c:pt>
                <c:pt idx="3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A25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3C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ROI multiple</c:v>
                </c:pt>
              </c:strCache>
            </c:strRef>
          </c:tx>
          <c:spPr>
            <a:solidFill>
              <a:srgbClr val="21C7A8"/>
            </a:solidFill>
            <a:ln w="38100" cap="flat">
              <a:solidFill>
                <a:srgbClr val="21C7A8"/>
              </a:solidFill>
              <a:prstDash val="solid"/>
              <a:round/>
            </a:ln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1C7A8"/>
              </a:solidFill>
              <a:ln w="9525" cap="flat">
                <a:solidFill>
                  <a:srgbClr val="21C7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1.3</c:v>
                </c:pt>
                <c:pt idx="2">
                  <c:v>2.3</c:v>
                </c:pt>
                <c:pt idx="3">
                  <c:v>3.2</c:v>
                </c:pt>
              </c:numCache>
            </c:numRef>
          </c:val>
          <c:smooth val="0"/>
        </c:ser>
        <c:dLbls>
          <c:numFmt formatCode="0.0&quot;x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for a redacted, anonymized sample of AI-enabled customer experience transformation work. All client identity and figures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the business problem and summarizes my role driving strategy, business case and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strategic pillars this engagement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on chatbot adoption, resolution quality and its effect on cost and handle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on the AI agents: automation coverage by workflow and the intake-reason-act-learn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ROI and KPI dashboard reviewed monthly with executive sponsors. All figures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four-phase delivery roadmap, Q1 through Q4 of Year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governance guardrails already in place and the recommended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 AI Partners   ·   Redacted Client Example — Names, data and figures anonymized / illustrative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48640" y="6473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 AI Partners   ·   Redacted Client Example — Names, data and figures anonymized / illustrative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 AI PARTNERS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CLIENT EXAMPLE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Customer Experience Transformation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strategy, chatbot &amp; intelligent-agent enablement, and a measured path from pilot to enterprise-wide ROI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0" cy="1051560"/>
          </a:xfrm>
          <a:prstGeom prst="line">
            <a:avLst/>
          </a:prstGeom>
          <a:noFill/>
          <a:ln w="19050">
            <a:solidFill>
              <a:srgbClr val="21C7A8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4526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50109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customer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4526280"/>
            <a:ext cx="0" cy="1051560"/>
          </a:xfrm>
          <a:prstGeom prst="line">
            <a:avLst/>
          </a:prstGeom>
          <a:noFill/>
          <a:ln w="19050">
            <a:solidFill>
              <a:srgbClr val="21C7A8">
                <a:alpha val="4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9272" y="4526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319272" y="50109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4526280"/>
            <a:ext cx="0" cy="1051560"/>
          </a:xfrm>
          <a:prstGeom prst="line">
            <a:avLst/>
          </a:prstGeom>
          <a:noFill/>
          <a:ln w="19050">
            <a:solidFill>
              <a:srgbClr val="21C7A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25312" y="4526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3.2x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50109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66760" y="4526280"/>
            <a:ext cx="0" cy="1051560"/>
          </a:xfrm>
          <a:prstGeom prst="line">
            <a:avLst/>
          </a:prstGeom>
          <a:noFill/>
          <a:ln w="19050">
            <a:solidFill>
              <a:srgbClr val="21C7A8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1352" y="4526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mo.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2" y="50109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Mohi — Transformation &amp; Program Manager, Mohi AI Partners</a:t>
            </a:r>
            <a:endParaRPr lang="en-US" sz="1300" dirty="0"/>
          </a:p>
        </p:txBody>
      </p:sp>
      <p:sp>
        <p:nvSpPr>
          <p:cNvPr id="20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OUR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contact volume (2.4M interactions/yr) was outpacing service-team capacity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handle time of 18.4 minutes and a $7.80 cost per contact were eroding margin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had plateaued at 72, well below the enterprise's 85+ target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cross-system workflows created inconsistent resolution and long handoffs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23C5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discovery to prioritize AI use cases against volume, cost and CX impact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Story-lined and drove the business case, ROI model and executive steering deck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delivery of a conversational AI chatbot and automation agents across service ops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the phased roadmap, KPI tracking and change management through scale-up</a:t>
            </a:r>
            <a:endParaRPr lang="en-US" sz="1400" dirty="0"/>
          </a:p>
        </p:txBody>
      </p:sp>
      <p:sp>
        <p:nvSpPr>
          <p:cNvPr id="11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 of AI-Enabled CX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ENABLEMENT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 / Chatbot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AI chatbot across web, mobile &amp; messaging for top-20 contact drivers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the knowledge base for grounded, self-service resolution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50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inbound volume now triaged or resolved by the bot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79392" y="141732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69164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371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377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Agents &amp; Automation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9718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AI agents to automate manual back-office and case-handling workflows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cross-system handoffs between service, billing and fulfillment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53712" y="502920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5550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manual tasks now automated end-to-end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10144" y="141732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84464" y="169164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84464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2377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 Strategy &amp; Governance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29718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AI adoption roadmap aligned to enterprise CX &amp; cost KPIs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model-risk, data-privacy and responsible-AI guardrails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84464" y="502920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5550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 cases covered by monthly governance review</a:t>
            </a:r>
            <a:endParaRPr lang="en-US" sz="1150" dirty="0"/>
          </a:p>
        </p:txBody>
      </p:sp>
      <p:sp>
        <p:nvSpPr>
          <p:cNvPr id="29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 in Production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CHATBOT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inbound volume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 by chatbot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63240" y="160020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first-contact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14173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49240" y="160020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/ 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in-chat customer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632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Handle Time &amp; Cost per Contact — Before vs. After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429000"/>
          <a:ext cx="66751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589520" y="1417320"/>
            <a:ext cx="4023360" cy="4572000"/>
          </a:xfrm>
          <a:prstGeom prst="roundRect">
            <a:avLst>
              <a:gd name="adj" fmla="val 2273"/>
            </a:avLst>
          </a:prstGeom>
          <a:solidFill>
            <a:srgbClr val="0A254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Volume Goes</a:t>
            </a:r>
            <a:endParaRPr lang="en-US" sz="15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7772400" y="2103120"/>
          <a:ext cx="3749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790956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all contacts are now fully resolved by the chatbot, at a 3-second average response time, with no human involvement.</a:t>
            </a:r>
            <a:endParaRPr lang="en-US" sz="1150" dirty="0"/>
          </a:p>
        </p:txBody>
      </p:sp>
      <p:sp>
        <p:nvSpPr>
          <p:cNvPr id="20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Automation at Scale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AI AGENTS &amp; AUTOMATION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tasks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63240" y="160020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hours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annually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14173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3C5C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49240" y="1600200"/>
            <a:ext cx="1645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service-team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Coverage by Workflow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cut cross-system handoffs 65%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429000"/>
          <a:ext cx="66751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7589520" y="1417320"/>
            <a:ext cx="4023360" cy="4572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23C5C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Agents Work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909560" y="2194560"/>
            <a:ext cx="384048" cy="38404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9095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13969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Intake: case or request received from chatbot, email or portal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09560" y="3108960"/>
            <a:ext cx="384048" cy="38404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9095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305409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agent classifies intent and pulls context from CRM &amp; knowledge systems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909560" y="4023360"/>
            <a:ext cx="384048" cy="38404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90956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396849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agent executes the workflow or routes to the right human owner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09560" y="4937760"/>
            <a:ext cx="384048" cy="38404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90956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488289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outcomes feed a monthly tuning cycle against KPI targets</a:t>
            </a:r>
            <a:endParaRPr lang="en-US" sz="1100" dirty="0"/>
          </a:p>
        </p:txBody>
      </p:sp>
      <p:sp>
        <p:nvSpPr>
          <p:cNvPr id="31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Business Impact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KPI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 pts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8633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improvement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 → 84)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1600200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-28%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18633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contact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($7.80 → $5.60)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141732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600200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$1.2M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18633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savings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1, est.)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ROI by Quarter — Year 1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337560"/>
          <a:ext cx="66751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589520" y="1417320"/>
            <a:ext cx="4023360" cy="4572000"/>
          </a:xfrm>
          <a:prstGeom prst="roundRect">
            <a:avLst>
              <a:gd name="adj" fmla="val 227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&amp; Investment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219456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7-month payback on implementation investment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3.2x return on investment within the first 12 months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improved 18 points (34 → 52) over the same period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eligible contacts now routed through AI triage first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reinvested into Phase 3 scale-up and model tuning</a:t>
            </a:r>
            <a:endParaRPr lang="en-US" sz="1200" dirty="0"/>
          </a:p>
        </p:txBody>
      </p:sp>
      <p:sp>
        <p:nvSpPr>
          <p:cNvPr id="19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Four-Phase Implementation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23C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2697480" cy="73152"/>
          </a:xfrm>
          <a:prstGeom prst="round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55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PHASE 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Design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240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CX &amp; contact-driver analysis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prioritization &amp; AI architecture design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executive alignment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23C5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17320"/>
            <a:ext cx="2697480" cy="73152"/>
          </a:xfrm>
          <a:prstGeom prst="roundRect">
            <a:avLst/>
          </a:prstGeom>
          <a:solidFill>
            <a:srgbClr val="21C7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1655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PHASE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965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Pilot: Chatbot &amp; Agent MVP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560320"/>
            <a:ext cx="2240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chatbot for top-3 contact drivers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first AI agent workflow with service team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KPI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23C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17320"/>
            <a:ext cx="269748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655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PHASE 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965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Integrate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560320"/>
            <a:ext cx="2240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chatbot &amp; agent coverage enterprise-wide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CRM and knowledge systems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cross-team change management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41732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23C5C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417320"/>
            <a:ext cx="2697480" cy="73152"/>
          </a:xfrm>
          <a:prstGeom prst="roundRect">
            <a:avLst/>
          </a:prstGeom>
          <a:solidFill>
            <a:srgbClr val="0A25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1655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PHASE 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1965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&amp; Expand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2560320"/>
            <a:ext cx="2240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models against ROI and KPI targets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for continued AI expansion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3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Year-2 use-case pipeline</a:t>
            </a:r>
            <a:endParaRPr lang="en-US" sz="1150" dirty="0"/>
          </a:p>
        </p:txBody>
      </p:sp>
      <p:sp>
        <p:nvSpPr>
          <p:cNvPr id="25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AI, SUSTAINED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in Place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 for high-risk or low-confidence cases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Data-privacy review for every workflow touching customer PII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model-performance &amp; bias review with risk &amp; compliance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 with transparent, auditable reporting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21C7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3 scale-up budget and timeline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chatbot to two additional service lines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AI governance council with risk &amp; legal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Year-2 KPI targets and reconvene executive sponsors quarterly</a:t>
            </a:r>
            <a:endParaRPr lang="en-US" sz="1400" dirty="0"/>
          </a:p>
        </p:txBody>
      </p:sp>
      <p:sp>
        <p:nvSpPr>
          <p:cNvPr id="11" name="Text 2"/>
          <p:cNvSpPr/>
          <p:nvPr>
            <p:ph idx="103" hasCustomPrompt="1"/>
          </p:nvPr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hi AI Partners CX AI Strategy">
  <a:themeElements>
    <a:clrScheme name="Mohi AI Partners CX AI Strategy">
      <a:dk1>
        <a:srgbClr val="0A2540"/>
      </a:dk1>
      <a:lt1>
        <a:srgbClr val="FFFFFF"/>
      </a:lt1>
      <a:dk2>
        <a:srgbClr val="123C5C"/>
      </a:dk2>
      <a:lt2>
        <a:srgbClr val="F2F5F7"/>
      </a:lt2>
      <a:accent1>
        <a:srgbClr val="21C7A8"/>
      </a:accent1>
      <a:accent2>
        <a:srgbClr val="E0A458"/>
      </a:accent2>
      <a:accent3>
        <a:srgbClr val="4FB3A9"/>
      </a:accent3>
      <a:accent4>
        <a:srgbClr val="8FA7B8"/>
      </a:accent4>
      <a:accent5>
        <a:srgbClr val="1C7293"/>
      </a:accent5>
      <a:accent6>
        <a:srgbClr val="CADCFC"/>
      </a:accent6>
      <a:hlink>
        <a:srgbClr val="21C7A8"/>
      </a:hlink>
      <a:folHlink>
        <a:srgbClr val="1C7293"/>
      </a:folHlink>
    </a:clrScheme>
    <a:fontScheme name="Mohi AI Partners CX AI Strate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Mohi AI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2026-10-31T00:37:51Z</dcterms:created>
  <dcterms:modified xsi:type="dcterms:W3CDTF">2026-10-31T00:37:51Z</dcterms:modified>
</cp:coreProperties>
</file>